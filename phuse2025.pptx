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9EE7"/>
    <a:srgbClr val="FF3333"/>
    <a:srgbClr val="FF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3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D128E-2FF9-66A6-121E-AB4669626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5EE2D5-86DE-136D-6902-3EE561E85F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66CCD-07CB-92EF-3C0F-3334B7D5A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2484-BB18-4C28-AEB5-DF98015715B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43074-08DB-EFA8-2A9F-463404DED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6169F-ED8E-B455-8CE5-475BF19F5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C0B5-5BA5-44DE-BF3A-5BB61E138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51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38428-E5AE-48C2-32C7-F143C3D5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4C2A6-C0B6-2F69-882A-FC01A10AF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789D6-947B-1D8C-3FDA-A1D1CB8B6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2484-BB18-4C28-AEB5-DF98015715B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A8675-D343-5658-F6E3-50E1C271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58C10-BFA1-BAF2-05B5-4A240A8C0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C0B5-5BA5-44DE-BF3A-5BB61E138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5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B3DEB-615C-AE68-4B89-8BFFA65B7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474BE-B050-5E4D-A948-B23F36828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1E55D-E2F5-9BEC-E6C9-F73C99AD2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2484-BB18-4C28-AEB5-DF98015715B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0FBB7-8FAE-66F5-CBED-0CDBFF2B1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6E09B-973D-02CE-A6EF-0E69268EE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C0B5-5BA5-44DE-BF3A-5BB61E138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09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6370B-35AF-170E-6931-3506C7D62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95E8F-F2CE-725A-E4CE-8744D59DCC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42C291-1D1D-808F-8103-D2B2B1A88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0732F-244E-3B31-84C5-FAA2659C3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2484-BB18-4C28-AEB5-DF98015715B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AF034-A175-39B1-8DEA-BE5D8BFA2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79E71-7BD0-5DE1-A8BC-1C954E831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C0B5-5BA5-44DE-BF3A-5BB61E138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89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8DE0B-8A70-8F40-F75B-FD08F5C44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DC5B6-B51C-E910-1989-1C04E5758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AB942-CCBF-8AD6-7BF3-75E0A7CED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1327A8-30A5-AF47-7287-0DF9925F0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C89D3E-7C24-740E-CEA4-D60B245203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502F3A-724A-EB04-FDBE-A9CB920C2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2484-BB18-4C28-AEB5-DF98015715B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FC5FE1-0432-ECF7-25B3-2A9017A52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14C4AF-169B-B769-7C10-32E1F3D07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C0B5-5BA5-44DE-BF3A-5BB61E138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58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4DD7F-E7F5-D364-CA7F-7A5F57AD4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A22F76-9FB1-D7A3-8D9E-40561AD8D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2484-BB18-4C28-AEB5-DF98015715B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5D5060-9E65-B7CB-6401-A5627DF5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1DFF1B-4B0F-46A6-9CEA-76362D86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C0B5-5BA5-44DE-BF3A-5BB61E138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0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65F5AE-B00D-9E0B-171F-861B4CB77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2484-BB18-4C28-AEB5-DF98015715B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426A89-285A-A62E-040B-E2EA38EF1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CFFBE-A8F9-92C6-E1B9-1CF947BFF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C0B5-5BA5-44DE-BF3A-5BB61E138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763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1945A-37CA-DC8F-D822-F5B160952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FD463-1568-4F8A-C3D1-1B26B4C93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1F974-B0C2-0A18-87FE-9AE271F2C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DE276-0392-8BB6-9591-857F32E0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2484-BB18-4C28-AEB5-DF98015715B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D29A3-ACBA-2AF8-C4EE-0E3AF4C6E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E2A18-0B0B-5476-ECC5-7A3C69717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C0B5-5BA5-44DE-BF3A-5BB61E138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08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A8874-2A26-2EAC-9E12-F8F4FBBE0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60E80E-9FFD-DAF5-8337-97AFB09FC8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06A74-E299-D500-B948-E228505EB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DE1D2-95E2-5643-8867-8903FA20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2484-BB18-4C28-AEB5-DF98015715B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72910-7C1F-07DD-17CB-000BEA0B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A4B78-D9A4-2D73-6EF1-8A52AD302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C0B5-5BA5-44DE-BF3A-5BB61E138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56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6F111-D1AC-D292-DED3-7004B1A85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300351-5549-483F-750B-3EF8FE08C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0070C-B70E-5D52-80EF-48C1AB8AE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2484-BB18-4C28-AEB5-DF98015715B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CE96F-7CD2-EDA7-D079-D7891B2B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1D8F2-7188-C0D4-BEFE-AD1D0A3F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C0B5-5BA5-44DE-BF3A-5BB61E138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076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E28381-B2AC-671E-9EE0-6DB67C254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61B99-257F-0CD8-4AD4-AE53F6BDD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A1D48-481C-6558-E1E4-8EC13415B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2484-BB18-4C28-AEB5-DF98015715B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39D0E-C520-C1EB-2A3B-8481F6366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7F82E-5289-93B8-E53D-475D914A2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C0B5-5BA5-44DE-BF3A-5BB61E138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40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459CF8-D07A-6566-BBEE-73EF91194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4E112-0BA9-9205-4A9B-1A888C0D4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7A023-16D6-D21A-90D4-49379028F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552484-BB18-4C28-AEB5-DF98015715B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9333B-E118-4741-4FEF-CA0E38C42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1CA3B-FB04-2DFD-F998-4210CC7D0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BC0B5-5BA5-44DE-BF3A-5BB61E138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67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CA2FA0C-5EBD-DCAC-4A9F-893732817A17}"/>
              </a:ext>
            </a:extLst>
          </p:cNvPr>
          <p:cNvSpPr/>
          <p:nvPr/>
        </p:nvSpPr>
        <p:spPr>
          <a:xfrm>
            <a:off x="254000" y="1540800"/>
            <a:ext cx="3247292" cy="2432149"/>
          </a:xfrm>
          <a:prstGeom prst="roundRect">
            <a:avLst/>
          </a:prstGeom>
          <a:solidFill>
            <a:srgbClr val="8D9E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Working Directory</a:t>
            </a:r>
          </a:p>
          <a:p>
            <a:pPr algn="ctr"/>
            <a:endParaRPr lang="en-US" b="1" dirty="0"/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Create · Edit · Delete files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git status · git diff</a:t>
            </a:r>
          </a:p>
          <a:p>
            <a:br>
              <a:rPr lang="en-US" sz="2400" dirty="0"/>
            </a:b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EDD8761-405B-92B4-F91F-111BC9553952}"/>
              </a:ext>
            </a:extLst>
          </p:cNvPr>
          <p:cNvSpPr/>
          <p:nvPr/>
        </p:nvSpPr>
        <p:spPr>
          <a:xfrm>
            <a:off x="4536049" y="1540800"/>
            <a:ext cx="3247292" cy="2432149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Staging Area (Index)</a:t>
            </a:r>
          </a:p>
          <a:p>
            <a:pPr algn="ctr"/>
            <a:endParaRPr lang="en-US" sz="2400" dirty="0"/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Select changes for commit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git add</a:t>
            </a:r>
          </a:p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E04378D-4019-1AEF-3E0D-3F6C767BA212}"/>
              </a:ext>
            </a:extLst>
          </p:cNvPr>
          <p:cNvSpPr/>
          <p:nvPr/>
        </p:nvSpPr>
        <p:spPr>
          <a:xfrm>
            <a:off x="8818098" y="1540799"/>
            <a:ext cx="3247292" cy="2432149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Local Repository</a:t>
            </a:r>
          </a:p>
          <a:p>
            <a:pPr algn="ctr"/>
            <a:endParaRPr lang="en-US" sz="2400" b="1" dirty="0"/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Permanent history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git commit · git log</a:t>
            </a:r>
          </a:p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4F56F8A-30B0-45CD-6FBB-DBAD107C416A}"/>
              </a:ext>
            </a:extLst>
          </p:cNvPr>
          <p:cNvSpPr/>
          <p:nvPr/>
        </p:nvSpPr>
        <p:spPr>
          <a:xfrm>
            <a:off x="445756" y="3375070"/>
            <a:ext cx="2719475" cy="459713"/>
          </a:xfrm>
          <a:prstGeom prst="roundRect">
            <a:avLst/>
          </a:prstGeom>
          <a:solidFill>
            <a:schemeClr val="accent1">
              <a:alpha val="8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Untracked: New files not yet added</a:t>
            </a:r>
            <a:br>
              <a:rPr lang="en-US" sz="1200" dirty="0"/>
            </a:br>
            <a:r>
              <a:rPr lang="en-US" sz="1200" dirty="0"/>
              <a:t>Tracked: Modified files after commit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639C3D-2492-CF1D-9055-FD459BFCCFCA}"/>
              </a:ext>
            </a:extLst>
          </p:cNvPr>
          <p:cNvSpPr/>
          <p:nvPr/>
        </p:nvSpPr>
        <p:spPr>
          <a:xfrm>
            <a:off x="4868482" y="3429000"/>
            <a:ext cx="2617540" cy="405783"/>
          </a:xfrm>
          <a:prstGeom prst="roundRect">
            <a:avLst/>
          </a:prstGeom>
          <a:solidFill>
            <a:schemeClr val="accent1">
              <a:alpha val="8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Only staged changes</a:t>
            </a:r>
            <a:br>
              <a:rPr lang="en-US" sz="1200" dirty="0"/>
            </a:br>
            <a:r>
              <a:rPr lang="en-US" sz="1200" dirty="0"/>
              <a:t>will be committed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579A157-AF37-5E1B-D344-70B2788A8FA6}"/>
              </a:ext>
            </a:extLst>
          </p:cNvPr>
          <p:cNvSpPr/>
          <p:nvPr/>
        </p:nvSpPr>
        <p:spPr>
          <a:xfrm>
            <a:off x="9132974" y="3429000"/>
            <a:ext cx="2617540" cy="405783"/>
          </a:xfrm>
          <a:prstGeom prst="roundRect">
            <a:avLst/>
          </a:prstGeom>
          <a:solidFill>
            <a:schemeClr val="accent1">
              <a:alpha val="8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All files here are tracked</a:t>
            </a:r>
            <a:br>
              <a:rPr lang="en-US" sz="1200" dirty="0"/>
            </a:br>
            <a:r>
              <a:rPr lang="en-US" sz="1200" dirty="0"/>
              <a:t>and versioned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8F961B9-E41B-1DB2-B90C-8428E8EA1010}"/>
              </a:ext>
            </a:extLst>
          </p:cNvPr>
          <p:cNvCxnSpPr/>
          <p:nvPr/>
        </p:nvCxnSpPr>
        <p:spPr>
          <a:xfrm>
            <a:off x="3607358" y="2756873"/>
            <a:ext cx="7335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9E08B0-85BB-6794-1130-491A08A5005C}"/>
              </a:ext>
            </a:extLst>
          </p:cNvPr>
          <p:cNvCxnSpPr/>
          <p:nvPr/>
        </p:nvCxnSpPr>
        <p:spPr>
          <a:xfrm>
            <a:off x="7919776" y="2752124"/>
            <a:ext cx="7335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FC62541-8DDF-CDF9-7D7B-B82233C51C14}"/>
              </a:ext>
            </a:extLst>
          </p:cNvPr>
          <p:cNvSpPr txBox="1"/>
          <p:nvPr/>
        </p:nvSpPr>
        <p:spPr>
          <a:xfrm>
            <a:off x="3607358" y="2130251"/>
            <a:ext cx="733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Git Add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1118AE-7AEB-9FB2-F866-65B1AF6138CC}"/>
              </a:ext>
            </a:extLst>
          </p:cNvPr>
          <p:cNvSpPr txBox="1"/>
          <p:nvPr/>
        </p:nvSpPr>
        <p:spPr>
          <a:xfrm>
            <a:off x="7919776" y="2105793"/>
            <a:ext cx="898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git commit</a:t>
            </a:r>
          </a:p>
        </p:txBody>
      </p:sp>
    </p:spTree>
    <p:extLst>
      <p:ext uri="{BB962C8B-B14F-4D97-AF65-F5344CB8AC3E}">
        <p14:creationId xmlns:p14="http://schemas.microsoft.com/office/powerpoint/2010/main" val="3330484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Laptop outline">
            <a:extLst>
              <a:ext uri="{FF2B5EF4-FFF2-40B4-BE49-F238E27FC236}">
                <a16:creationId xmlns:a16="http://schemas.microsoft.com/office/drawing/2014/main" id="{167297AE-B976-7395-3C6D-8DE6FC56F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092" y="1265255"/>
            <a:ext cx="2543908" cy="216374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733FD65-9D2F-2C9F-61C3-90A5CDF6BF18}"/>
              </a:ext>
            </a:extLst>
          </p:cNvPr>
          <p:cNvSpPr/>
          <p:nvPr/>
        </p:nvSpPr>
        <p:spPr>
          <a:xfrm>
            <a:off x="351692" y="762001"/>
            <a:ext cx="2793024" cy="31702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3A9331-606D-EE76-1888-549CC6C240AF}"/>
              </a:ext>
            </a:extLst>
          </p:cNvPr>
          <p:cNvCxnSpPr>
            <a:cxnSpLocks/>
          </p:cNvCxnSpPr>
          <p:nvPr/>
        </p:nvCxnSpPr>
        <p:spPr>
          <a:xfrm>
            <a:off x="1301261" y="2121878"/>
            <a:ext cx="949570" cy="0"/>
          </a:xfrm>
          <a:prstGeom prst="line">
            <a:avLst/>
          </a:prstGeom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91A221-7E84-046E-BD57-AF779C69636B}"/>
              </a:ext>
            </a:extLst>
          </p:cNvPr>
          <p:cNvCxnSpPr>
            <a:cxnSpLocks/>
          </p:cNvCxnSpPr>
          <p:nvPr/>
        </p:nvCxnSpPr>
        <p:spPr>
          <a:xfrm>
            <a:off x="1301261" y="2347127"/>
            <a:ext cx="949570" cy="0"/>
          </a:xfrm>
          <a:prstGeom prst="line">
            <a:avLst/>
          </a:prstGeom>
          <a:ln w="9525">
            <a:solidFill>
              <a:srgbClr val="00B0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D5EBAA4-97A9-3772-ACC4-C160EF23EF8D}"/>
              </a:ext>
            </a:extLst>
          </p:cNvPr>
          <p:cNvCxnSpPr>
            <a:cxnSpLocks/>
          </p:cNvCxnSpPr>
          <p:nvPr/>
        </p:nvCxnSpPr>
        <p:spPr>
          <a:xfrm>
            <a:off x="1301261" y="2497016"/>
            <a:ext cx="949570" cy="0"/>
          </a:xfrm>
          <a:prstGeom prst="line">
            <a:avLst/>
          </a:prstGeom>
          <a:ln w="9525">
            <a:solidFill>
              <a:schemeClr val="accent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54A1DC0-8323-55E7-0306-E7449310289B}"/>
              </a:ext>
            </a:extLst>
          </p:cNvPr>
          <p:cNvSpPr txBox="1"/>
          <p:nvPr/>
        </p:nvSpPr>
        <p:spPr>
          <a:xfrm>
            <a:off x="600808" y="1001069"/>
            <a:ext cx="2543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Working Directory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29659A-E4E4-291F-EF4A-A1BBCCB4BC50}"/>
              </a:ext>
            </a:extLst>
          </p:cNvPr>
          <p:cNvSpPr txBox="1"/>
          <p:nvPr/>
        </p:nvSpPr>
        <p:spPr>
          <a:xfrm>
            <a:off x="685799" y="3285924"/>
            <a:ext cx="2180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Developer A</a:t>
            </a:r>
          </a:p>
        </p:txBody>
      </p:sp>
      <p:pic>
        <p:nvPicPr>
          <p:cNvPr id="20" name="Graphic 19" descr="Cylinder outline">
            <a:extLst>
              <a:ext uri="{FF2B5EF4-FFF2-40B4-BE49-F238E27FC236}">
                <a16:creationId xmlns:a16="http://schemas.microsoft.com/office/drawing/2014/main" id="{CF19F058-F5CB-FD10-B209-F5811C6B6C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57447" y="762001"/>
            <a:ext cx="2379784" cy="3405552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3DF7FB0-7A2A-37FE-8E8E-DDF2A713A0DA}"/>
              </a:ext>
            </a:extLst>
          </p:cNvPr>
          <p:cNvCxnSpPr>
            <a:cxnSpLocks/>
          </p:cNvCxnSpPr>
          <p:nvPr/>
        </p:nvCxnSpPr>
        <p:spPr>
          <a:xfrm>
            <a:off x="1301260" y="2028093"/>
            <a:ext cx="949570" cy="0"/>
          </a:xfrm>
          <a:prstGeom prst="line">
            <a:avLst/>
          </a:prstGeom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Graphic 21" descr="Cylinder outline">
            <a:extLst>
              <a:ext uri="{FF2B5EF4-FFF2-40B4-BE49-F238E27FC236}">
                <a16:creationId xmlns:a16="http://schemas.microsoft.com/office/drawing/2014/main" id="{9F1EF0BC-8400-B5A9-0163-A752E5C388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60524" y="644351"/>
            <a:ext cx="2379784" cy="3405552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D9D36-8820-00EE-A05B-B6F36E368188}"/>
              </a:ext>
            </a:extLst>
          </p:cNvPr>
          <p:cNvCxnSpPr>
            <a:cxnSpLocks/>
          </p:cNvCxnSpPr>
          <p:nvPr/>
        </p:nvCxnSpPr>
        <p:spPr>
          <a:xfrm flipV="1">
            <a:off x="4067907" y="638699"/>
            <a:ext cx="0" cy="4742193"/>
          </a:xfrm>
          <a:prstGeom prst="line">
            <a:avLst/>
          </a:prstGeom>
          <a:ln w="76200">
            <a:solidFill>
              <a:srgbClr val="00B0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FD66CD0-4399-C9C1-57BD-E64FF88EB190}"/>
              </a:ext>
            </a:extLst>
          </p:cNvPr>
          <p:cNvSpPr txBox="1"/>
          <p:nvPr/>
        </p:nvSpPr>
        <p:spPr>
          <a:xfrm>
            <a:off x="4267200" y="438835"/>
            <a:ext cx="1524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.git directory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A34D65-7D90-07B1-4FCF-27474D7C2CAF}"/>
              </a:ext>
            </a:extLst>
          </p:cNvPr>
          <p:cNvSpPr txBox="1"/>
          <p:nvPr/>
        </p:nvSpPr>
        <p:spPr>
          <a:xfrm>
            <a:off x="5785338" y="2086710"/>
            <a:ext cx="1524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Select what goes into the snapshot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6F4B3A-5A21-7BC9-3B27-8F42CE5EB58F}"/>
              </a:ext>
            </a:extLst>
          </p:cNvPr>
          <p:cNvSpPr txBox="1"/>
          <p:nvPr/>
        </p:nvSpPr>
        <p:spPr>
          <a:xfrm>
            <a:off x="9882553" y="1946033"/>
            <a:ext cx="1524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Snapshot saved in history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49B337D-06E4-DEA8-FFAF-78CE1E8C6878}"/>
              </a:ext>
            </a:extLst>
          </p:cNvPr>
          <p:cNvCxnSpPr>
            <a:cxnSpLocks/>
          </p:cNvCxnSpPr>
          <p:nvPr/>
        </p:nvCxnSpPr>
        <p:spPr>
          <a:xfrm>
            <a:off x="3237036" y="2328873"/>
            <a:ext cx="2517530" cy="14403"/>
          </a:xfrm>
          <a:prstGeom prst="straightConnector1">
            <a:avLst/>
          </a:prstGeom>
          <a:ln w="2730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976A7CC-DBC3-CFB5-01EF-6E6266472AF5}"/>
              </a:ext>
            </a:extLst>
          </p:cNvPr>
          <p:cNvCxnSpPr>
            <a:cxnSpLocks/>
          </p:cNvCxnSpPr>
          <p:nvPr/>
        </p:nvCxnSpPr>
        <p:spPr>
          <a:xfrm>
            <a:off x="7365023" y="2291024"/>
            <a:ext cx="2517530" cy="14403"/>
          </a:xfrm>
          <a:prstGeom prst="straightConnector1">
            <a:avLst/>
          </a:prstGeom>
          <a:ln w="2730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E7B7949-C66E-9F39-D41A-C03C2D335961}"/>
              </a:ext>
            </a:extLst>
          </p:cNvPr>
          <p:cNvSpPr txBox="1"/>
          <p:nvPr/>
        </p:nvSpPr>
        <p:spPr>
          <a:xfrm>
            <a:off x="3689108" y="1858816"/>
            <a:ext cx="1524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git add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8A9C59-05E7-B568-7683-9B9CE49B98E8}"/>
              </a:ext>
            </a:extLst>
          </p:cNvPr>
          <p:cNvSpPr txBox="1"/>
          <p:nvPr/>
        </p:nvSpPr>
        <p:spPr>
          <a:xfrm>
            <a:off x="7170125" y="1790887"/>
            <a:ext cx="1524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git commit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BCE393-C2AB-A6A9-ACE8-B8A8441AC5CA}"/>
              </a:ext>
            </a:extLst>
          </p:cNvPr>
          <p:cNvSpPr txBox="1"/>
          <p:nvPr/>
        </p:nvSpPr>
        <p:spPr>
          <a:xfrm>
            <a:off x="5556008" y="4260211"/>
            <a:ext cx="19826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Staging Area (Index)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46178A-7D7A-CEFE-91BF-DE075EE1CB95}"/>
              </a:ext>
            </a:extLst>
          </p:cNvPr>
          <p:cNvSpPr txBox="1"/>
          <p:nvPr/>
        </p:nvSpPr>
        <p:spPr>
          <a:xfrm>
            <a:off x="9653223" y="4302789"/>
            <a:ext cx="19826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Local Repository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6F66E9-0934-23CE-5098-6003C4B56557}"/>
              </a:ext>
            </a:extLst>
          </p:cNvPr>
          <p:cNvSpPr txBox="1"/>
          <p:nvPr/>
        </p:nvSpPr>
        <p:spPr>
          <a:xfrm>
            <a:off x="756874" y="4591399"/>
            <a:ext cx="1982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Edit files here</a:t>
            </a:r>
          </a:p>
        </p:txBody>
      </p:sp>
    </p:spTree>
    <p:extLst>
      <p:ext uri="{BB962C8B-B14F-4D97-AF65-F5344CB8AC3E}">
        <p14:creationId xmlns:p14="http://schemas.microsoft.com/office/powerpoint/2010/main" val="4075788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6C5CB3-5E53-CBF4-FE9B-EEB0FCC86601}"/>
              </a:ext>
            </a:extLst>
          </p:cNvPr>
          <p:cNvSpPr txBox="1"/>
          <p:nvPr/>
        </p:nvSpPr>
        <p:spPr>
          <a:xfrm>
            <a:off x="3046956" y="-2993987"/>
            <a:ext cx="6093912" cy="12852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</a:rPr>
              <a:t>Working Directory</a:t>
            </a:r>
            <a:endParaRPr lang="en-US" dirty="0">
              <a:effectLst/>
            </a:endParaRPr>
          </a:p>
          <a:p>
            <a:pPr>
              <a:buNone/>
            </a:pPr>
            <a:r>
              <a:rPr lang="en-US" dirty="0">
                <a:solidFill>
                  <a:srgbClr val="B9C6FF"/>
                </a:solidFill>
                <a:effectLst/>
              </a:rPr>
              <a:t>Edit files and run checks locally.</a:t>
            </a:r>
          </a:p>
          <a:p>
            <a:pPr>
              <a:spcBef>
                <a:spcPts val="750"/>
              </a:spcBef>
              <a:buNone/>
            </a:pPr>
            <a:r>
              <a:rPr lang="en-US" dirty="0">
                <a:solidFill>
                  <a:srgbClr val="EAF0FF"/>
                </a:solidFill>
                <a:effectLst/>
              </a:rPr>
              <a:t>git </a:t>
            </a:r>
            <a:r>
              <a:rPr lang="en-US" dirty="0" err="1">
                <a:solidFill>
                  <a:srgbClr val="EAF0FF"/>
                </a:solidFill>
                <a:effectLst/>
              </a:rPr>
              <a:t>statusgit</a:t>
            </a:r>
            <a:r>
              <a:rPr lang="en-US" dirty="0">
                <a:solidFill>
                  <a:srgbClr val="EAF0FF"/>
                </a:solidFill>
                <a:effectLst/>
              </a:rPr>
              <a:t> diff</a:t>
            </a:r>
            <a:endParaRPr lang="en-US" dirty="0">
              <a:effectLst/>
            </a:endParaRPr>
          </a:p>
          <a:p>
            <a:pPr>
              <a:buNone/>
            </a:pPr>
            <a:r>
              <a:rPr lang="en-US" b="1" dirty="0">
                <a:effectLst/>
              </a:rPr>
              <a:t>Staging Area</a:t>
            </a:r>
            <a:endParaRPr lang="en-US" dirty="0">
              <a:effectLst/>
            </a:endParaRPr>
          </a:p>
          <a:p>
            <a:pPr>
              <a:buNone/>
            </a:pPr>
            <a:r>
              <a:rPr lang="en-US" dirty="0">
                <a:solidFill>
                  <a:srgbClr val="B9C6FF"/>
                </a:solidFill>
                <a:effectLst/>
              </a:rPr>
              <a:t>Select changes to include in the next snapshot.</a:t>
            </a:r>
          </a:p>
          <a:p>
            <a:pPr>
              <a:spcBef>
                <a:spcPts val="750"/>
              </a:spcBef>
              <a:buNone/>
            </a:pPr>
            <a:r>
              <a:rPr lang="en-US" dirty="0">
                <a:solidFill>
                  <a:srgbClr val="EAF0FF"/>
                </a:solidFill>
                <a:effectLst/>
              </a:rPr>
              <a:t>git </a:t>
            </a:r>
            <a:r>
              <a:rPr lang="en-US" dirty="0" err="1">
                <a:solidFill>
                  <a:srgbClr val="EAF0FF"/>
                </a:solidFill>
                <a:effectLst/>
              </a:rPr>
              <a:t>addgit</a:t>
            </a:r>
            <a:r>
              <a:rPr lang="en-US" dirty="0">
                <a:solidFill>
                  <a:srgbClr val="EAF0FF"/>
                </a:solidFill>
                <a:effectLst/>
              </a:rPr>
              <a:t> restore --staged</a:t>
            </a:r>
            <a:endParaRPr lang="en-US" dirty="0">
              <a:effectLst/>
            </a:endParaRPr>
          </a:p>
          <a:p>
            <a:pPr>
              <a:buNone/>
            </a:pPr>
            <a:r>
              <a:rPr lang="en-US" b="1" dirty="0">
                <a:effectLst/>
              </a:rPr>
              <a:t>Local Repository</a:t>
            </a:r>
            <a:endParaRPr lang="en-US" dirty="0">
              <a:effectLst/>
            </a:endParaRPr>
          </a:p>
          <a:p>
            <a:pPr>
              <a:buNone/>
            </a:pPr>
            <a:r>
              <a:rPr lang="en-US" dirty="0">
                <a:solidFill>
                  <a:srgbClr val="B9C6FF"/>
                </a:solidFill>
                <a:effectLst/>
              </a:rPr>
              <a:t>Commit history stored on the developer’s machine.</a:t>
            </a:r>
          </a:p>
          <a:p>
            <a:pPr>
              <a:spcBef>
                <a:spcPts val="750"/>
              </a:spcBef>
              <a:buNone/>
            </a:pPr>
            <a:r>
              <a:rPr lang="en-US" dirty="0">
                <a:solidFill>
                  <a:srgbClr val="EAF0FF"/>
                </a:solidFill>
                <a:effectLst/>
              </a:rPr>
              <a:t>git </a:t>
            </a:r>
            <a:r>
              <a:rPr lang="en-US" dirty="0" err="1">
                <a:solidFill>
                  <a:srgbClr val="EAF0FF"/>
                </a:solidFill>
                <a:effectLst/>
              </a:rPr>
              <a:t>commitgit</a:t>
            </a:r>
            <a:r>
              <a:rPr lang="en-US" dirty="0">
                <a:solidFill>
                  <a:srgbClr val="EAF0FF"/>
                </a:solidFill>
                <a:effectLst/>
              </a:rPr>
              <a:t> log</a:t>
            </a:r>
            <a:endParaRPr lang="en-US" dirty="0">
              <a:effectLst/>
            </a:endParaRPr>
          </a:p>
          <a:p>
            <a:pPr>
              <a:spcBef>
                <a:spcPts val="900"/>
              </a:spcBef>
              <a:buNone/>
            </a:pPr>
            <a:r>
              <a:rPr lang="en-US" b="1" dirty="0">
                <a:solidFill>
                  <a:srgbClr val="EAF0FF"/>
                </a:solidFill>
                <a:effectLst/>
              </a:rPr>
              <a:t>Push:</a:t>
            </a:r>
            <a:r>
              <a:rPr lang="en-US" dirty="0">
                <a:solidFill>
                  <a:srgbClr val="B9C6FF"/>
                </a:solidFill>
                <a:effectLst/>
              </a:rPr>
              <a:t> publish local commits to the remote repository using </a:t>
            </a:r>
            <a:r>
              <a:rPr lang="en-US" dirty="0">
                <a:solidFill>
                  <a:srgbClr val="B9C6FF"/>
                </a:solidFill>
                <a:effectLst/>
                <a:latin typeface="Courier New" panose="02070309020205020404" pitchFamily="49" charset="0"/>
              </a:rPr>
              <a:t>git push</a:t>
            </a:r>
            <a:r>
              <a:rPr lang="en-US" dirty="0">
                <a:solidFill>
                  <a:srgbClr val="B9C6FF"/>
                </a:solidFill>
                <a:effectLst/>
              </a:rPr>
              <a:t>.</a:t>
            </a:r>
          </a:p>
          <a:p>
            <a:pPr>
              <a:spcBef>
                <a:spcPts val="900"/>
              </a:spcBef>
              <a:buNone/>
            </a:pPr>
            <a:r>
              <a:rPr lang="en-US" b="1" dirty="0">
                <a:solidFill>
                  <a:srgbClr val="EAF0FF"/>
                </a:solidFill>
                <a:effectLst/>
              </a:rPr>
              <a:t>Fetch:</a:t>
            </a:r>
            <a:r>
              <a:rPr lang="en-US" dirty="0">
                <a:solidFill>
                  <a:srgbClr val="B9C6FF"/>
                </a:solidFill>
                <a:effectLst/>
              </a:rPr>
              <a:t> retrieve updates from remote without merging using </a:t>
            </a:r>
            <a:r>
              <a:rPr lang="en-US" dirty="0">
                <a:solidFill>
                  <a:srgbClr val="B9C6FF"/>
                </a:solidFill>
                <a:effectLst/>
                <a:latin typeface="Courier New" panose="02070309020205020404" pitchFamily="49" charset="0"/>
              </a:rPr>
              <a:t>git fetch</a:t>
            </a:r>
            <a:r>
              <a:rPr lang="en-US" dirty="0">
                <a:solidFill>
                  <a:srgbClr val="B9C6FF"/>
                </a:solidFill>
                <a:effectLst/>
              </a:rPr>
              <a:t>.</a:t>
            </a:r>
          </a:p>
          <a:p>
            <a:pPr>
              <a:spcBef>
                <a:spcPts val="900"/>
              </a:spcBef>
              <a:buNone/>
            </a:pPr>
            <a:r>
              <a:rPr lang="en-US" b="1" dirty="0">
                <a:solidFill>
                  <a:srgbClr val="EAF0FF"/>
                </a:solidFill>
                <a:effectLst/>
              </a:rPr>
              <a:t>Pull:</a:t>
            </a:r>
            <a:r>
              <a:rPr lang="en-US" dirty="0">
                <a:solidFill>
                  <a:srgbClr val="B9C6FF"/>
                </a:solidFill>
                <a:effectLst/>
              </a:rPr>
              <a:t> retrieve and integrate remote updates using </a:t>
            </a:r>
            <a:r>
              <a:rPr lang="en-US" dirty="0">
                <a:solidFill>
                  <a:srgbClr val="B9C6FF"/>
                </a:solidFill>
                <a:effectLst/>
                <a:latin typeface="Courier New" panose="02070309020205020404" pitchFamily="49" charset="0"/>
              </a:rPr>
              <a:t>git pull</a:t>
            </a:r>
            <a:r>
              <a:rPr lang="en-US" dirty="0">
                <a:solidFill>
                  <a:srgbClr val="B9C6FF"/>
                </a:solidFill>
                <a:effectLst/>
              </a:rPr>
              <a:t>.</a:t>
            </a:r>
          </a:p>
          <a:p>
            <a:pPr algn="l">
              <a:spcBef>
                <a:spcPts val="150"/>
              </a:spcBef>
              <a:spcAft>
                <a:spcPts val="450"/>
              </a:spcAft>
              <a:buNone/>
            </a:pPr>
            <a:r>
              <a:rPr lang="en-US" b="1" i="0" dirty="0">
                <a:solidFill>
                  <a:srgbClr val="EAF0FF"/>
                </a:solidFill>
                <a:effectLst/>
                <a:latin typeface="system-ui"/>
              </a:rPr>
              <a:t>REMOTE REPOSITORY</a:t>
            </a:r>
          </a:p>
          <a:p>
            <a:pPr algn="l">
              <a:buNone/>
            </a:pPr>
            <a:r>
              <a:rPr lang="en-US" b="0" i="0" dirty="0">
                <a:solidFill>
                  <a:srgbClr val="B9C6FF"/>
                </a:solidFill>
                <a:effectLst/>
                <a:latin typeface="system-ui"/>
              </a:rPr>
              <a:t>Shared repository hosted on GitHub (or another Git server). Enables collaboration by exchanging commits.</a:t>
            </a:r>
          </a:p>
          <a:p>
            <a:pPr algn="l">
              <a:spcBef>
                <a:spcPts val="750"/>
              </a:spcBef>
              <a:buNone/>
            </a:pPr>
            <a:r>
              <a:rPr lang="en-US" b="0" i="0" dirty="0">
                <a:solidFill>
                  <a:srgbClr val="EAF0FF"/>
                </a:solidFill>
                <a:effectLst/>
                <a:latin typeface="system-ui"/>
              </a:rPr>
              <a:t>git </a:t>
            </a:r>
            <a:r>
              <a:rPr lang="en-US" b="0" i="0" dirty="0" err="1">
                <a:solidFill>
                  <a:srgbClr val="EAF0FF"/>
                </a:solidFill>
                <a:effectLst/>
                <a:latin typeface="system-ui"/>
              </a:rPr>
              <a:t>clonegit</a:t>
            </a:r>
            <a:r>
              <a:rPr lang="en-US" b="0" i="0" dirty="0">
                <a:solidFill>
                  <a:srgbClr val="EAF0FF"/>
                </a:solidFill>
                <a:effectLst/>
                <a:latin typeface="system-ui"/>
              </a:rPr>
              <a:t> </a:t>
            </a:r>
            <a:r>
              <a:rPr lang="en-US" b="0" i="0" dirty="0" err="1">
                <a:solidFill>
                  <a:srgbClr val="EAF0FF"/>
                </a:solidFill>
                <a:effectLst/>
                <a:latin typeface="system-ui"/>
              </a:rPr>
              <a:t>fetchgit</a:t>
            </a:r>
            <a:r>
              <a:rPr lang="en-US" b="0" i="0" dirty="0">
                <a:solidFill>
                  <a:srgbClr val="EAF0FF"/>
                </a:solidFill>
                <a:effectLst/>
                <a:latin typeface="system-ui"/>
              </a:rPr>
              <a:t> </a:t>
            </a:r>
            <a:r>
              <a:rPr lang="en-US" b="0" i="0" dirty="0" err="1">
                <a:solidFill>
                  <a:srgbClr val="EAF0FF"/>
                </a:solidFill>
                <a:effectLst/>
                <a:latin typeface="system-ui"/>
              </a:rPr>
              <a:t>pushgit</a:t>
            </a:r>
            <a:r>
              <a:rPr lang="en-US" b="0" i="0" dirty="0">
                <a:solidFill>
                  <a:srgbClr val="EAF0FF"/>
                </a:solidFill>
                <a:effectLst/>
                <a:latin typeface="system-ui"/>
              </a:rPr>
              <a:t> pull</a:t>
            </a:r>
          </a:p>
          <a:p>
            <a:pPr algn="l">
              <a:spcAft>
                <a:spcPts val="600"/>
              </a:spcAft>
              <a:buNone/>
            </a:pPr>
            <a:r>
              <a:rPr lang="en-US" b="1" i="0" dirty="0">
                <a:solidFill>
                  <a:srgbClr val="B9C6FF"/>
                </a:solidFill>
                <a:effectLst/>
                <a:latin typeface="system-ui"/>
              </a:rPr>
              <a:t>Notes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AF0FF"/>
                </a:solidFill>
                <a:effectLst/>
                <a:latin typeface="Courier New" panose="02070309020205020404" pitchFamily="49" charset="0"/>
              </a:rPr>
              <a:t>git clone</a:t>
            </a:r>
            <a:r>
              <a:rPr lang="en-US" b="0" i="0" dirty="0">
                <a:solidFill>
                  <a:srgbClr val="B9C6FF"/>
                </a:solidFill>
                <a:effectLst/>
                <a:latin typeface="system-ui"/>
              </a:rPr>
              <a:t> creates a full local copy of the remote repository.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AF0FF"/>
                </a:solidFill>
                <a:effectLst/>
                <a:latin typeface="Courier New" panose="02070309020205020404" pitchFamily="49" charset="0"/>
              </a:rPr>
              <a:t>git push</a:t>
            </a:r>
            <a:r>
              <a:rPr lang="en-US" b="0" i="0" dirty="0">
                <a:solidFill>
                  <a:srgbClr val="B9C6FF"/>
                </a:solidFill>
                <a:effectLst/>
                <a:latin typeface="system-ui"/>
              </a:rPr>
              <a:t> sends committed snapshots to the remote.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AF0FF"/>
                </a:solidFill>
                <a:effectLst/>
                <a:latin typeface="Courier New" panose="02070309020205020404" pitchFamily="49" charset="0"/>
              </a:rPr>
              <a:t>git fetch</a:t>
            </a:r>
            <a:r>
              <a:rPr lang="en-US" b="0" i="0" dirty="0">
                <a:solidFill>
                  <a:srgbClr val="B9C6FF"/>
                </a:solidFill>
                <a:effectLst/>
                <a:latin typeface="system-ui"/>
              </a:rPr>
              <a:t> downloads remote changes but does not merge them.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AF0FF"/>
                </a:solidFill>
                <a:effectLst/>
                <a:latin typeface="Courier New" panose="02070309020205020404" pitchFamily="49" charset="0"/>
              </a:rPr>
              <a:t>git pull</a:t>
            </a:r>
            <a:r>
              <a:rPr lang="en-US" b="0" i="0" dirty="0">
                <a:solidFill>
                  <a:srgbClr val="B9C6FF"/>
                </a:solidFill>
                <a:effectLst/>
                <a:latin typeface="system-ui"/>
              </a:rPr>
              <a:t> fetches and integrates updates into the current branch.</a:t>
            </a:r>
          </a:p>
          <a:p>
            <a:pPr>
              <a:spcAft>
                <a:spcPts val="750"/>
              </a:spcAft>
              <a:buNone/>
            </a:pPr>
            <a:r>
              <a:rPr lang="en-US" b="1" dirty="0">
                <a:solidFill>
                  <a:srgbClr val="B9C6FF"/>
                </a:solidFill>
                <a:effectLst/>
              </a:rPr>
              <a:t>DEVELOPER B (Local Git)</a:t>
            </a:r>
          </a:p>
          <a:p>
            <a:pPr>
              <a:buNone/>
            </a:pPr>
            <a:r>
              <a:rPr lang="en-US" b="1" dirty="0">
                <a:effectLst/>
              </a:rPr>
              <a:t>Working Directory</a:t>
            </a:r>
            <a:endParaRPr lang="en-US" dirty="0">
              <a:effectLst/>
            </a:endParaRPr>
          </a:p>
          <a:p>
            <a:pPr>
              <a:buNone/>
            </a:pPr>
            <a:r>
              <a:rPr lang="en-US" dirty="0">
                <a:solidFill>
                  <a:srgbClr val="B9C6FF"/>
                </a:solidFill>
                <a:effectLst/>
              </a:rPr>
              <a:t>Edit files independently and test locally.</a:t>
            </a:r>
          </a:p>
          <a:p>
            <a:pPr>
              <a:spcBef>
                <a:spcPts val="750"/>
              </a:spcBef>
              <a:buNone/>
            </a:pPr>
            <a:r>
              <a:rPr lang="en-US" dirty="0">
                <a:solidFill>
                  <a:srgbClr val="EAF0FF"/>
                </a:solidFill>
                <a:effectLst/>
              </a:rPr>
              <a:t>git </a:t>
            </a:r>
            <a:r>
              <a:rPr lang="en-US" dirty="0" err="1">
                <a:solidFill>
                  <a:srgbClr val="EAF0FF"/>
                </a:solidFill>
                <a:effectLst/>
              </a:rPr>
              <a:t>statusgit</a:t>
            </a:r>
            <a:r>
              <a:rPr lang="en-US" dirty="0">
                <a:solidFill>
                  <a:srgbClr val="EAF0FF"/>
                </a:solidFill>
                <a:effectLst/>
              </a:rPr>
              <a:t> diff</a:t>
            </a:r>
            <a:endParaRPr lang="en-US" dirty="0">
              <a:effectLst/>
            </a:endParaRPr>
          </a:p>
          <a:p>
            <a:pPr>
              <a:buNone/>
            </a:pPr>
            <a:r>
              <a:rPr lang="en-US" b="1" dirty="0">
                <a:effectLst/>
              </a:rPr>
              <a:t>Staging Area</a:t>
            </a:r>
            <a:endParaRPr lang="en-US" dirty="0">
              <a:effectLst/>
            </a:endParaRPr>
          </a:p>
          <a:p>
            <a:pPr>
              <a:buNone/>
            </a:pPr>
            <a:r>
              <a:rPr lang="en-US" dirty="0">
                <a:solidFill>
                  <a:srgbClr val="B9C6FF"/>
                </a:solidFill>
                <a:effectLst/>
              </a:rPr>
              <a:t>Stage only the changes that are ready to record.</a:t>
            </a:r>
          </a:p>
          <a:p>
            <a:pPr>
              <a:spcBef>
                <a:spcPts val="750"/>
              </a:spcBef>
              <a:buNone/>
            </a:pPr>
            <a:r>
              <a:rPr lang="en-US" dirty="0">
                <a:solidFill>
                  <a:srgbClr val="EAF0FF"/>
                </a:solidFill>
                <a:effectLst/>
              </a:rPr>
              <a:t>git add</a:t>
            </a:r>
            <a:endParaRPr lang="en-US" dirty="0">
              <a:effectLst/>
            </a:endParaRPr>
          </a:p>
          <a:p>
            <a:pPr>
              <a:buNone/>
            </a:pPr>
            <a:r>
              <a:rPr lang="en-US" b="1" dirty="0">
                <a:effectLst/>
              </a:rPr>
              <a:t>Local Repository</a:t>
            </a:r>
            <a:endParaRPr lang="en-US" dirty="0">
              <a:effectLst/>
            </a:endParaRPr>
          </a:p>
          <a:p>
            <a:pPr>
              <a:buNone/>
            </a:pPr>
            <a:r>
              <a:rPr lang="en-US" dirty="0">
                <a:solidFill>
                  <a:srgbClr val="B9C6FF"/>
                </a:solidFill>
                <a:effectLst/>
              </a:rPr>
              <a:t>Commit locally; history is always available offline.</a:t>
            </a:r>
          </a:p>
          <a:p>
            <a:pPr>
              <a:spcBef>
                <a:spcPts val="750"/>
              </a:spcBef>
              <a:buNone/>
            </a:pPr>
            <a:r>
              <a:rPr lang="en-US" dirty="0">
                <a:solidFill>
                  <a:srgbClr val="EAF0FF"/>
                </a:solidFill>
                <a:effectLst/>
              </a:rPr>
              <a:t>git </a:t>
            </a:r>
            <a:r>
              <a:rPr lang="en-US" dirty="0" err="1">
                <a:solidFill>
                  <a:srgbClr val="EAF0FF"/>
                </a:solidFill>
                <a:effectLst/>
              </a:rPr>
              <a:t>commitgit</a:t>
            </a:r>
            <a:r>
              <a:rPr lang="en-US" dirty="0">
                <a:solidFill>
                  <a:srgbClr val="EAF0FF"/>
                </a:solidFill>
                <a:effectLst/>
              </a:rPr>
              <a:t> log</a:t>
            </a:r>
            <a:endParaRPr lang="en-US" dirty="0">
              <a:effectLst/>
            </a:endParaRPr>
          </a:p>
          <a:p>
            <a:pPr>
              <a:spcBef>
                <a:spcPts val="900"/>
              </a:spcBef>
              <a:buNone/>
            </a:pPr>
            <a:r>
              <a:rPr lang="en-US" b="1" dirty="0">
                <a:solidFill>
                  <a:srgbClr val="EAF0FF"/>
                </a:solidFill>
                <a:effectLst/>
              </a:rPr>
              <a:t>Clone:</a:t>
            </a:r>
            <a:r>
              <a:rPr lang="en-US" dirty="0">
                <a:solidFill>
                  <a:srgbClr val="B9C6FF"/>
                </a:solidFill>
                <a:effectLst/>
              </a:rPr>
              <a:t> start by copying the remote with </a:t>
            </a:r>
            <a:r>
              <a:rPr lang="en-US" dirty="0">
                <a:solidFill>
                  <a:srgbClr val="B9C6FF"/>
                </a:solidFill>
                <a:effectLst/>
                <a:latin typeface="Courier New" panose="02070309020205020404" pitchFamily="49" charset="0"/>
              </a:rPr>
              <a:t>git clone</a:t>
            </a:r>
            <a:r>
              <a:rPr lang="en-US" dirty="0">
                <a:solidFill>
                  <a:srgbClr val="B9C6FF"/>
                </a:solidFill>
                <a:effectLst/>
              </a:rPr>
              <a:t>.</a:t>
            </a:r>
          </a:p>
          <a:p>
            <a:pPr>
              <a:spcBef>
                <a:spcPts val="900"/>
              </a:spcBef>
              <a:buNone/>
            </a:pPr>
            <a:r>
              <a:rPr lang="en-US" b="1" dirty="0">
                <a:solidFill>
                  <a:srgbClr val="EAF0FF"/>
                </a:solidFill>
                <a:effectLst/>
              </a:rPr>
              <a:t>Pull:</a:t>
            </a:r>
            <a:r>
              <a:rPr lang="en-US" dirty="0">
                <a:solidFill>
                  <a:srgbClr val="B9C6FF"/>
                </a:solidFill>
                <a:effectLst/>
              </a:rPr>
              <a:t> stay up to date with </a:t>
            </a:r>
            <a:r>
              <a:rPr lang="en-US" dirty="0">
                <a:solidFill>
                  <a:srgbClr val="B9C6FF"/>
                </a:solidFill>
                <a:effectLst/>
                <a:latin typeface="Courier New" panose="02070309020205020404" pitchFamily="49" charset="0"/>
              </a:rPr>
              <a:t>git pull</a:t>
            </a:r>
            <a:r>
              <a:rPr lang="en-US" dirty="0">
                <a:solidFill>
                  <a:srgbClr val="B9C6FF"/>
                </a:solidFill>
                <a:effectLst/>
              </a:rPr>
              <a:t> before pushing your work.</a:t>
            </a:r>
          </a:p>
          <a:p>
            <a:pPr>
              <a:spcBef>
                <a:spcPts val="900"/>
              </a:spcBef>
              <a:buNone/>
            </a:pPr>
            <a:r>
              <a:rPr lang="en-US" b="1" dirty="0">
                <a:solidFill>
                  <a:srgbClr val="EAF0FF"/>
                </a:solidFill>
                <a:effectLst/>
              </a:rPr>
              <a:t>Push:</a:t>
            </a:r>
            <a:r>
              <a:rPr lang="en-US" dirty="0">
                <a:solidFill>
                  <a:srgbClr val="B9C6FF"/>
                </a:solidFill>
                <a:effectLst/>
              </a:rPr>
              <a:t> share completed commits using </a:t>
            </a:r>
            <a:r>
              <a:rPr lang="en-US" dirty="0">
                <a:solidFill>
                  <a:srgbClr val="B9C6FF"/>
                </a:solidFill>
                <a:effectLst/>
                <a:latin typeface="Courier New" panose="02070309020205020404" pitchFamily="49" charset="0"/>
              </a:rPr>
              <a:t>git push</a:t>
            </a:r>
            <a:r>
              <a:rPr lang="en-US" dirty="0">
                <a:solidFill>
                  <a:srgbClr val="B9C6FF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9416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</TotalTime>
  <Words>323</Words>
  <Application>Microsoft Office PowerPoint</Application>
  <PresentationFormat>Widescreen</PresentationFormat>
  <Paragraphs>62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Courier New</vt:lpstr>
      <vt:lpstr>system-ui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Chauhan, Jeetender</dc:creator>
  <cp:lastModifiedBy>Chauhan, Jeetender</cp:lastModifiedBy>
  <cp:revision>1</cp:revision>
  <dcterms:created xsi:type="dcterms:W3CDTF">2025-12-28T20:15:22Z</dcterms:created>
  <dcterms:modified xsi:type="dcterms:W3CDTF">2025-12-29T14:45:52Z</dcterms:modified>
</cp:coreProperties>
</file>